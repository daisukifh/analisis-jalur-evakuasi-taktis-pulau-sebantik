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9B43"/>
    <a:srgbClr val="CBC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03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38" y="12"/>
            <a:ext cx="12185281" cy="68572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3316" y="154432"/>
            <a:ext cx="11377803" cy="7664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917" y="274320"/>
            <a:ext cx="10978515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461"/>
            <a:ext cx="12192000" cy="6857365"/>
            <a:chOff x="0" y="12"/>
            <a:chExt cx="12192000" cy="6857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2191758" cy="6857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16" y="152273"/>
              <a:ext cx="11377803" cy="76644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8FFB8F4-1FE0-B9D0-193B-19B0DBDE4813}"/>
              </a:ext>
            </a:extLst>
          </p:cNvPr>
          <p:cNvSpPr txBox="1"/>
          <p:nvPr/>
        </p:nvSpPr>
        <p:spPr>
          <a:xfrm>
            <a:off x="1980959" y="5181600"/>
            <a:ext cx="10210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Analisis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Jalur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Evakuasi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Taktis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pulau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sebantik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Di Daerah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Konflik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ambalat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(Indonesia-Malaysia)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E3533-E2A8-8BFC-74B0-BF85EA149D78}"/>
              </a:ext>
            </a:extLst>
          </p:cNvPr>
          <p:cNvSpPr txBox="1"/>
          <p:nvPr/>
        </p:nvSpPr>
        <p:spPr>
          <a:xfrm>
            <a:off x="9372600" y="6142751"/>
            <a:ext cx="3550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Fikri Hanif - 247056016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AB3747-877C-A3D6-77BD-4FD3B1D395B8}"/>
              </a:ext>
            </a:extLst>
          </p:cNvPr>
          <p:cNvSpPr/>
          <p:nvPr/>
        </p:nvSpPr>
        <p:spPr>
          <a:xfrm>
            <a:off x="10134600" y="5562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5DB1A-BF70-E8A8-1494-08D535359411}"/>
              </a:ext>
            </a:extLst>
          </p:cNvPr>
          <p:cNvSpPr/>
          <p:nvPr/>
        </p:nvSpPr>
        <p:spPr>
          <a:xfrm>
            <a:off x="-990600" y="2133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C6FEF-EF8D-5360-1768-2E425E15347C}"/>
              </a:ext>
            </a:extLst>
          </p:cNvPr>
          <p:cNvSpPr txBox="1"/>
          <p:nvPr/>
        </p:nvSpPr>
        <p:spPr>
          <a:xfrm>
            <a:off x="533400" y="1621996"/>
            <a:ext cx="1135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+mn-lt"/>
              </a:rPr>
              <a:t>Ambalat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merupakan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blok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laut</a:t>
            </a:r>
            <a:r>
              <a:rPr lang="en-US" dirty="0">
                <a:latin typeface="+mn-lt"/>
              </a:rPr>
              <a:t> yang </a:t>
            </a:r>
            <a:r>
              <a:rPr lang="en-US" dirty="0" err="1">
                <a:latin typeface="+mn-lt"/>
              </a:rPr>
              <a:t>memiliki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luas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sekitar</a:t>
            </a:r>
            <a:r>
              <a:rPr lang="en-US" dirty="0">
                <a:latin typeface="+mn-lt"/>
              </a:rPr>
              <a:t> 15.235 km2.Ketegangan </a:t>
            </a:r>
            <a:r>
              <a:rPr lang="en-US" dirty="0" err="1">
                <a:latin typeface="+mn-lt"/>
              </a:rPr>
              <a:t>ini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terjadi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karena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permasalahan</a:t>
            </a:r>
            <a:r>
              <a:rPr lang="en-US" dirty="0">
                <a:latin typeface="+mn-lt"/>
              </a:rPr>
              <a:t> garis Pantai </a:t>
            </a:r>
            <a:r>
              <a:rPr lang="en-US" dirty="0" err="1">
                <a:latin typeface="+mn-lt"/>
              </a:rPr>
              <a:t>antara</a:t>
            </a:r>
            <a:r>
              <a:rPr lang="en-US" dirty="0">
                <a:latin typeface="+mn-lt"/>
              </a:rPr>
              <a:t> Indonesia dan Malaysia yang </a:t>
            </a:r>
            <a:r>
              <a:rPr lang="en-US" dirty="0" err="1">
                <a:latin typeface="+mn-lt"/>
              </a:rPr>
              <a:t>saling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klaim</a:t>
            </a:r>
            <a:r>
              <a:rPr lang="en-US" dirty="0">
                <a:latin typeface="+mn-lt"/>
              </a:rPr>
              <a:t> wilayah </a:t>
            </a:r>
            <a:r>
              <a:rPr lang="en-US" dirty="0" err="1">
                <a:latin typeface="+mn-lt"/>
              </a:rPr>
              <a:t>tersebut</a:t>
            </a:r>
            <a:r>
              <a:rPr lang="en-US" dirty="0">
                <a:latin typeface="+mn-lt"/>
              </a:rPr>
              <a:t>. Indonesia </a:t>
            </a:r>
            <a:r>
              <a:rPr lang="en-US" dirty="0" err="1">
                <a:latin typeface="+mn-lt"/>
              </a:rPr>
              <a:t>mendasarkan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klaimnya</a:t>
            </a:r>
            <a:r>
              <a:rPr lang="en-US" dirty="0">
                <a:latin typeface="+mn-lt"/>
              </a:rPr>
              <a:t> pada </a:t>
            </a:r>
            <a:r>
              <a:rPr lang="en-US" dirty="0" err="1">
                <a:latin typeface="+mn-lt"/>
              </a:rPr>
              <a:t>prinsip</a:t>
            </a:r>
            <a:endParaRPr lang="en-US" dirty="0">
              <a:latin typeface="+mn-lt"/>
            </a:endParaRPr>
          </a:p>
          <a:p>
            <a:pPr algn="just"/>
            <a:r>
              <a:rPr lang="en-US" dirty="0" err="1">
                <a:latin typeface="+mn-lt"/>
              </a:rPr>
              <a:t>landas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kontinen</a:t>
            </a:r>
            <a:r>
              <a:rPr lang="en-US" dirty="0">
                <a:latin typeface="+mn-lt"/>
              </a:rPr>
              <a:t> (continental shelf) </a:t>
            </a:r>
            <a:r>
              <a:rPr lang="en-US" dirty="0" err="1">
                <a:latin typeface="+mn-lt"/>
              </a:rPr>
              <a:t>sesuai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Konvensi</a:t>
            </a:r>
            <a:r>
              <a:rPr lang="en-US" dirty="0">
                <a:latin typeface="+mn-lt"/>
              </a:rPr>
              <a:t> Hukum Laut PBB (UNCLOS 1982), di mana batas negara </a:t>
            </a:r>
            <a:r>
              <a:rPr lang="en-US" dirty="0" err="1">
                <a:latin typeface="+mn-lt"/>
              </a:rPr>
              <a:t>ditarik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dari</a:t>
            </a:r>
            <a:r>
              <a:rPr lang="en-US" dirty="0">
                <a:latin typeface="+mn-lt"/>
              </a:rPr>
              <a:t> garis </a:t>
            </a:r>
            <a:r>
              <a:rPr lang="en-US" dirty="0" err="1">
                <a:latin typeface="+mn-lt"/>
              </a:rPr>
              <a:t>pangkal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kepulauan</a:t>
            </a:r>
            <a:r>
              <a:rPr lang="en-US" dirty="0">
                <a:latin typeface="+mn-lt"/>
              </a:rPr>
              <a:t> Indonesia. </a:t>
            </a:r>
            <a:r>
              <a:rPr lang="en-US" dirty="0" err="1">
                <a:latin typeface="+mn-lt"/>
              </a:rPr>
              <a:t>Disisi</a:t>
            </a:r>
            <a:r>
              <a:rPr lang="en-US" dirty="0">
                <a:latin typeface="+mn-lt"/>
              </a:rPr>
              <a:t> lain Malaysia </a:t>
            </a:r>
            <a:r>
              <a:rPr lang="en-US" dirty="0" err="1">
                <a:latin typeface="+mn-lt"/>
              </a:rPr>
              <a:t>mendasari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klaimnya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secara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hukum</a:t>
            </a:r>
            <a:r>
              <a:rPr lang="en-US" dirty="0">
                <a:latin typeface="+mn-lt"/>
              </a:rPr>
              <a:t> pada UNCLOS, </a:t>
            </a:r>
            <a:r>
              <a:rPr lang="en-US" dirty="0" err="1">
                <a:latin typeface="+mn-lt"/>
              </a:rPr>
              <a:t>tetapi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penerapannya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secara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sepihak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melalui</a:t>
            </a:r>
            <a:r>
              <a:rPr lang="en-US" dirty="0">
                <a:latin typeface="+mn-lt"/>
              </a:rPr>
              <a:t> Peta 1979 (New Map of Malaysia 1979).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A633BE-C5C4-3AAE-525A-D6CD2F5DF2A7}"/>
              </a:ext>
            </a:extLst>
          </p:cNvPr>
          <p:cNvSpPr/>
          <p:nvPr/>
        </p:nvSpPr>
        <p:spPr>
          <a:xfrm>
            <a:off x="-457200" y="1053154"/>
            <a:ext cx="3429000" cy="533400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Latar </a:t>
            </a:r>
            <a:r>
              <a:rPr lang="en-US" sz="2000" b="1" dirty="0" err="1"/>
              <a:t>Belakang</a:t>
            </a:r>
            <a:endParaRPr lang="en-US" sz="20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87EBA8-DF4D-D4DF-113A-CE091602B9D0}"/>
              </a:ext>
            </a:extLst>
          </p:cNvPr>
          <p:cNvSpPr/>
          <p:nvPr/>
        </p:nvSpPr>
        <p:spPr>
          <a:xfrm>
            <a:off x="-457200" y="3234137"/>
            <a:ext cx="3429000" cy="533400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Persiapan</a:t>
            </a:r>
            <a:r>
              <a:rPr lang="en-US" sz="2000" b="1" dirty="0"/>
              <a:t> Data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A5B012E4-5FB0-024A-0931-90B19C182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4" y="4203405"/>
            <a:ext cx="3657600" cy="9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2A9834-0DA1-386D-FC5B-40FA894A7BAE}"/>
              </a:ext>
            </a:extLst>
          </p:cNvPr>
          <p:cNvSpPr txBox="1"/>
          <p:nvPr/>
        </p:nvSpPr>
        <p:spPr>
          <a:xfrm>
            <a:off x="23534" y="5412355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Dem (Digital Elevation Model)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A236BC3-DDFC-2EAA-5171-BD5DCA35E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34" y="4226787"/>
            <a:ext cx="3991532" cy="914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B23D20-535B-104D-15B2-0982D537F69F}"/>
              </a:ext>
            </a:extLst>
          </p:cNvPr>
          <p:cNvSpPr txBox="1"/>
          <p:nvPr/>
        </p:nvSpPr>
        <p:spPr>
          <a:xfrm>
            <a:off x="4138334" y="5385812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Batas Wilayah (Kalimantan Utara)</a:t>
            </a:r>
          </a:p>
        </p:txBody>
      </p:sp>
      <p:pic>
        <p:nvPicPr>
          <p:cNvPr id="1030" name="Picture 6" descr="OpenStreetMap - Wikipedia bahasa Indonesia, ensiklopedia bebas">
            <a:extLst>
              <a:ext uri="{FF2B5EF4-FFF2-40B4-BE49-F238E27FC236}">
                <a16:creationId xmlns:a16="http://schemas.microsoft.com/office/drawing/2014/main" id="{A4BEC40C-69CF-F059-1C8F-BB925E7F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054" y="340406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A9EBB0-20FB-D512-2496-997D8767C9B7}"/>
              </a:ext>
            </a:extLst>
          </p:cNvPr>
          <p:cNvSpPr txBox="1"/>
          <p:nvPr/>
        </p:nvSpPr>
        <p:spPr>
          <a:xfrm>
            <a:off x="8138516" y="5412184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</a:t>
            </a:r>
            <a:r>
              <a:rPr lang="en-US" dirty="0" err="1"/>
              <a:t>Lainnya</a:t>
            </a:r>
            <a:r>
              <a:rPr lang="en-US" dirty="0"/>
              <a:t> (</a:t>
            </a:r>
            <a:r>
              <a:rPr lang="en-US" dirty="0" err="1"/>
              <a:t>jalan</a:t>
            </a:r>
            <a:r>
              <a:rPr lang="en-US" dirty="0"/>
              <a:t>, </a:t>
            </a:r>
            <a:r>
              <a:rPr lang="en-US" dirty="0" err="1"/>
              <a:t>perumahan</a:t>
            </a:r>
            <a:r>
              <a:rPr lang="en-US" dirty="0"/>
              <a:t>, </a:t>
            </a:r>
          </a:p>
          <a:p>
            <a:pPr algn="ctr"/>
            <a:r>
              <a:rPr lang="en-US" dirty="0"/>
              <a:t>Lokasi </a:t>
            </a:r>
            <a:r>
              <a:rPr lang="en-US" dirty="0" err="1"/>
              <a:t>publik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E4BE-2B1A-C7FD-0E24-87014F39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A829C1-7E2E-CAC5-7015-549E907F69E7}"/>
              </a:ext>
            </a:extLst>
          </p:cNvPr>
          <p:cNvSpPr/>
          <p:nvPr/>
        </p:nvSpPr>
        <p:spPr>
          <a:xfrm>
            <a:off x="10134600" y="5562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73A3F-B3DD-9187-C816-AB14BFA44F56}"/>
              </a:ext>
            </a:extLst>
          </p:cNvPr>
          <p:cNvSpPr/>
          <p:nvPr/>
        </p:nvSpPr>
        <p:spPr>
          <a:xfrm>
            <a:off x="-990600" y="2133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2EF1B5-F663-89F5-898A-630162F649F1}"/>
              </a:ext>
            </a:extLst>
          </p:cNvPr>
          <p:cNvSpPr/>
          <p:nvPr/>
        </p:nvSpPr>
        <p:spPr>
          <a:xfrm>
            <a:off x="-457200" y="1053154"/>
            <a:ext cx="3429000" cy="533400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Analisis</a:t>
            </a:r>
            <a:r>
              <a:rPr lang="en-US" sz="2000" b="1" dirty="0"/>
              <a:t> Viewshed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E289D-5169-8184-3C29-DCEADA3A6F85}"/>
              </a:ext>
            </a:extLst>
          </p:cNvPr>
          <p:cNvSpPr txBox="1"/>
          <p:nvPr/>
        </p:nvSpPr>
        <p:spPr>
          <a:xfrm>
            <a:off x="297906" y="4876800"/>
            <a:ext cx="4890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Menghitung</a:t>
            </a:r>
            <a:r>
              <a:rPr lang="en-US" dirty="0">
                <a:latin typeface="+mj-lt"/>
              </a:rPr>
              <a:t> area yang </a:t>
            </a:r>
            <a:r>
              <a:rPr lang="en-US" dirty="0" err="1">
                <a:latin typeface="+mj-lt"/>
              </a:rPr>
              <a:t>Benar-benar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terlihat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dari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kapal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dengan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mempertimbangkan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topografi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gunung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bukit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bisa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menghalangi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pandangan</a:t>
            </a:r>
            <a:r>
              <a:rPr lang="en-US" dirty="0">
                <a:latin typeface="+mj-lt"/>
              </a:rPr>
              <a:t>)</a:t>
            </a:r>
          </a:p>
          <a:p>
            <a:pPr algn="ctr"/>
            <a:endParaRPr lang="en-US" dirty="0">
              <a:latin typeface="+mj-lt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844711-A2F8-0055-358B-A53065E6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0" t="33333" r="31875" b="13333"/>
          <a:stretch>
            <a:fillRect/>
          </a:stretch>
        </p:blipFill>
        <p:spPr>
          <a:xfrm>
            <a:off x="647700" y="2088444"/>
            <a:ext cx="4191000" cy="2483556"/>
          </a:xfrm>
          <a:prstGeom prst="rect">
            <a:avLst/>
          </a:prstGeom>
        </p:spPr>
      </p:pic>
      <p:pic>
        <p:nvPicPr>
          <p:cNvPr id="16" name="Picture 15" descr="A map of the earth&#10;&#10;AI-generated content may be incorrect.">
            <a:extLst>
              <a:ext uri="{FF2B5EF4-FFF2-40B4-BE49-F238E27FC236}">
                <a16:creationId xmlns:a16="http://schemas.microsoft.com/office/drawing/2014/main" id="{84A9EEE8-AC87-73B4-1F99-2C4EE2A9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949814"/>
            <a:ext cx="6392093" cy="3622186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F35812-123F-A441-E6F5-338C7430F87B}"/>
              </a:ext>
            </a:extLst>
          </p:cNvPr>
          <p:cNvSpPr/>
          <p:nvPr/>
        </p:nvSpPr>
        <p:spPr>
          <a:xfrm>
            <a:off x="5867400" y="4800600"/>
            <a:ext cx="6483894" cy="1905000"/>
          </a:xfrm>
          <a:prstGeom prst="roundRect">
            <a:avLst/>
          </a:prstGeom>
          <a:solidFill>
            <a:srgbClr val="CBC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A93F18-1DD9-EDBF-FC9A-200CB8964BD8}"/>
              </a:ext>
            </a:extLst>
          </p:cNvPr>
          <p:cNvSpPr txBox="1"/>
          <p:nvPr/>
        </p:nvSpPr>
        <p:spPr>
          <a:xfrm>
            <a:off x="5965036" y="50292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+mn-lt"/>
              </a:rPr>
              <a:t>Parameter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309CA-0AD3-D41C-2687-8B188B32E4C5}"/>
              </a:ext>
            </a:extLst>
          </p:cNvPr>
          <p:cNvSpPr txBox="1"/>
          <p:nvPr/>
        </p:nvSpPr>
        <p:spPr>
          <a:xfrm>
            <a:off x="5904587" y="5410200"/>
            <a:ext cx="6135013" cy="955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dirty="0"/>
              <a:t>Observer height: 25 (meter) - </a:t>
            </a:r>
            <a:r>
              <a:rPr lang="en-US" sz="1300" dirty="0" err="1"/>
              <a:t>tinggi</a:t>
            </a:r>
            <a:r>
              <a:rPr lang="en-US" sz="1300" dirty="0"/>
              <a:t> radar </a:t>
            </a:r>
            <a:r>
              <a:rPr lang="en-US" sz="1300" dirty="0" err="1"/>
              <a:t>kapal</a:t>
            </a:r>
            <a:r>
              <a:rPr lang="en-US" sz="1300" dirty="0"/>
              <a:t> </a:t>
            </a:r>
            <a:r>
              <a:rPr lang="en-US" sz="1300" dirty="0" err="1"/>
              <a:t>perang</a:t>
            </a:r>
            <a:r>
              <a:rPr lang="en-US" sz="1300" dirty="0"/>
              <a:t> 25m </a:t>
            </a:r>
            <a:r>
              <a:rPr lang="en-US" sz="1300" dirty="0" err="1"/>
              <a:t>dari</a:t>
            </a:r>
            <a:r>
              <a:rPr lang="en-US" sz="1300" dirty="0"/>
              <a:t> </a:t>
            </a:r>
            <a:r>
              <a:rPr lang="en-US" sz="1300" dirty="0" err="1"/>
              <a:t>permukaan</a:t>
            </a:r>
            <a:r>
              <a:rPr lang="en-US" sz="1300" dirty="0"/>
              <a:t> </a:t>
            </a:r>
            <a:r>
              <a:rPr lang="en-US" sz="1300" dirty="0" err="1"/>
              <a:t>laut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dirty="0"/>
              <a:t>Target height: 1.6 (meter) - </a:t>
            </a:r>
            <a:r>
              <a:rPr lang="en-US" sz="1300" dirty="0" err="1"/>
              <a:t>tinggi</a:t>
            </a:r>
            <a:r>
              <a:rPr lang="en-US" sz="1300" dirty="0"/>
              <a:t> rata-rata </a:t>
            </a:r>
            <a:r>
              <a:rPr lang="en-US" sz="1300" dirty="0" err="1"/>
              <a:t>manusia</a:t>
            </a:r>
            <a:r>
              <a:rPr lang="en-US" sz="1300" dirty="0"/>
              <a:t> </a:t>
            </a:r>
            <a:r>
              <a:rPr lang="en-US" sz="1300" dirty="0" err="1"/>
              <a:t>indonesia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dirty="0"/>
              <a:t>Maximum distance: 25000 (meter) - </a:t>
            </a:r>
            <a:r>
              <a:rPr lang="en-US" sz="1300" dirty="0" err="1"/>
              <a:t>jangkauan</a:t>
            </a:r>
            <a:r>
              <a:rPr lang="en-US" sz="1300" dirty="0"/>
              <a:t> visual </a:t>
            </a:r>
            <a:r>
              <a:rPr lang="en-US" sz="1300" dirty="0" err="1"/>
              <a:t>maksimal</a:t>
            </a:r>
            <a:r>
              <a:rPr lang="en-US" sz="1300" dirty="0"/>
              <a:t> 25 km</a:t>
            </a:r>
          </a:p>
        </p:txBody>
      </p:sp>
    </p:spTree>
    <p:extLst>
      <p:ext uri="{BB962C8B-B14F-4D97-AF65-F5344CB8AC3E}">
        <p14:creationId xmlns:p14="http://schemas.microsoft.com/office/powerpoint/2010/main" val="221551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8A31-57D7-9788-EDA5-A575C82E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639D7A-7A3A-ED7E-205F-7CBDDECAE537}"/>
              </a:ext>
            </a:extLst>
          </p:cNvPr>
          <p:cNvSpPr/>
          <p:nvPr/>
        </p:nvSpPr>
        <p:spPr>
          <a:xfrm>
            <a:off x="10134600" y="5562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AE65A-DD70-48FA-D639-BB02AE69DD34}"/>
              </a:ext>
            </a:extLst>
          </p:cNvPr>
          <p:cNvSpPr/>
          <p:nvPr/>
        </p:nvSpPr>
        <p:spPr>
          <a:xfrm>
            <a:off x="-990600" y="2133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BFFB0B-8E7B-67FE-5C40-3FE45A6D4BFA}"/>
              </a:ext>
            </a:extLst>
          </p:cNvPr>
          <p:cNvSpPr/>
          <p:nvPr/>
        </p:nvSpPr>
        <p:spPr>
          <a:xfrm>
            <a:off x="-457200" y="1053154"/>
            <a:ext cx="3429000" cy="533400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Penerapan</a:t>
            </a:r>
            <a:r>
              <a:rPr lang="en-US" sz="2000" b="1" dirty="0"/>
              <a:t> </a:t>
            </a:r>
            <a:r>
              <a:rPr lang="en-US" sz="2000" b="1" dirty="0" err="1"/>
              <a:t>Algoritma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3F9A9-0657-C5BA-B375-AE281FE6145F}"/>
              </a:ext>
            </a:extLst>
          </p:cNvPr>
          <p:cNvSpPr txBox="1"/>
          <p:nvPr/>
        </p:nvSpPr>
        <p:spPr>
          <a:xfrm>
            <a:off x="0" y="1749623"/>
            <a:ext cx="640080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 err="1">
                <a:latin typeface="+mj-lt"/>
              </a:rPr>
              <a:t>Algoritma</a:t>
            </a:r>
            <a:r>
              <a:rPr lang="en-US" sz="1400" i="1" dirty="0">
                <a:latin typeface="+mj-lt"/>
              </a:rPr>
              <a:t> yang </a:t>
            </a:r>
            <a:r>
              <a:rPr lang="en-US" sz="1400" i="1" dirty="0" err="1">
                <a:latin typeface="+mj-lt"/>
              </a:rPr>
              <a:t>digunakan</a:t>
            </a:r>
            <a:r>
              <a:rPr lang="en-US" sz="1400" i="1" dirty="0">
                <a:latin typeface="+mj-lt"/>
              </a:rPr>
              <a:t> Adalah Shortest Path Dijkstra </a:t>
            </a:r>
            <a:r>
              <a:rPr lang="en-US" sz="1400" i="1" dirty="0" err="1">
                <a:latin typeface="+mj-lt"/>
              </a:rPr>
              <a:t>dengan</a:t>
            </a:r>
            <a:r>
              <a:rPr lang="en-US" sz="1400" i="1" dirty="0">
                <a:latin typeface="+mj-lt"/>
              </a:rPr>
              <a:t> Cost Attribute</a:t>
            </a:r>
            <a:r>
              <a:rPr lang="en-US" sz="1400" dirty="0">
                <a:latin typeface="+mj-lt"/>
              </a:rPr>
              <a:t>. Dimana Cost Weighting </a:t>
            </a:r>
            <a:r>
              <a:rPr lang="en-US" sz="1400" dirty="0" err="1">
                <a:latin typeface="+mj-lt"/>
              </a:rPr>
              <a:t>memberikan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hukuman</a:t>
            </a:r>
            <a:r>
              <a:rPr lang="en-US" sz="1400" dirty="0">
                <a:latin typeface="+mj-lt"/>
              </a:rPr>
              <a:t> pada </a:t>
            </a:r>
            <a:r>
              <a:rPr lang="en-US" sz="1400" dirty="0" err="1">
                <a:latin typeface="+mj-lt"/>
              </a:rPr>
              <a:t>jalan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berbahaya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dimana</a:t>
            </a:r>
            <a:r>
              <a:rPr lang="en-US" sz="1400" dirty="0">
                <a:latin typeface="+mj-lt"/>
              </a:rPr>
              <a:t>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A09AE-6441-B9F8-8B55-1B498B2A0B1B}"/>
              </a:ext>
            </a:extLst>
          </p:cNvPr>
          <p:cNvSpPr txBox="1"/>
          <p:nvPr/>
        </p:nvSpPr>
        <p:spPr>
          <a:xfrm>
            <a:off x="228600" y="2409403"/>
            <a:ext cx="1181100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atin typeface="+mj-lt"/>
              </a:rPr>
              <a:t>Jalan di Zona Aman: </a:t>
            </a:r>
            <a:r>
              <a:rPr lang="en-US" sz="1400" i="1" dirty="0" err="1">
                <a:latin typeface="+mj-lt"/>
              </a:rPr>
              <a:t>Diberi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kecepatan</a:t>
            </a:r>
            <a:r>
              <a:rPr lang="en-US" sz="1400" i="1" dirty="0">
                <a:latin typeface="+mj-lt"/>
              </a:rPr>
              <a:t> 50 km/jam (</a:t>
            </a:r>
            <a:r>
              <a:rPr lang="en-US" sz="1400" i="1" dirty="0" err="1">
                <a:latin typeface="+mj-lt"/>
              </a:rPr>
              <a:t>Hambatan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rendah</a:t>
            </a:r>
            <a:r>
              <a:rPr lang="en-US" sz="1400" i="1" dirty="0">
                <a:latin typeface="+mj-lt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atin typeface="+mj-lt"/>
              </a:rPr>
              <a:t>Jalan di Zona </a:t>
            </a:r>
            <a:r>
              <a:rPr lang="en-US" sz="1400" i="1" dirty="0" err="1">
                <a:latin typeface="+mj-lt"/>
              </a:rPr>
              <a:t>Bahaya</a:t>
            </a:r>
            <a:r>
              <a:rPr lang="en-US" sz="1400" i="1" dirty="0">
                <a:latin typeface="+mj-lt"/>
              </a:rPr>
              <a:t>: </a:t>
            </a:r>
            <a:r>
              <a:rPr lang="en-US" sz="1400" i="1" dirty="0" err="1">
                <a:latin typeface="+mj-lt"/>
              </a:rPr>
              <a:t>Diberi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kecepatan</a:t>
            </a:r>
            <a:r>
              <a:rPr lang="en-US" sz="1400" i="1" dirty="0">
                <a:latin typeface="+mj-lt"/>
              </a:rPr>
              <a:t> 1 km/jam (</a:t>
            </a:r>
            <a:r>
              <a:rPr lang="en-US" sz="1400" i="1" dirty="0" err="1">
                <a:latin typeface="+mj-lt"/>
              </a:rPr>
              <a:t>Hambatan</a:t>
            </a:r>
            <a:r>
              <a:rPr lang="en-US" sz="1400" i="1" dirty="0">
                <a:latin typeface="+mj-lt"/>
              </a:rPr>
              <a:t> sangat </a:t>
            </a:r>
            <a:r>
              <a:rPr lang="en-US" sz="1400" i="1" dirty="0" err="1">
                <a:latin typeface="+mj-lt"/>
              </a:rPr>
              <a:t>tinggi</a:t>
            </a:r>
            <a:r>
              <a:rPr lang="en-US" sz="1400" i="1" dirty="0">
                <a:latin typeface="+mj-lt"/>
              </a:rPr>
              <a:t>).</a:t>
            </a:r>
            <a:endParaRPr lang="en-US" sz="1400" dirty="0">
              <a:latin typeface="+mj-lt"/>
            </a:endParaRPr>
          </a:p>
        </p:txBody>
      </p:sp>
      <p:pic>
        <p:nvPicPr>
          <p:cNvPr id="9" name="Picture 8" descr="A map of a country&#10;&#10;AI-generated content may be incorrect.">
            <a:extLst>
              <a:ext uri="{FF2B5EF4-FFF2-40B4-BE49-F238E27FC236}">
                <a16:creationId xmlns:a16="http://schemas.microsoft.com/office/drawing/2014/main" id="{47C03C43-2CDF-D0C5-571F-2B5E3557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5" y="3297852"/>
            <a:ext cx="3733800" cy="246255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24E522-FF17-1392-B2EA-ECE760A67E30}"/>
              </a:ext>
            </a:extLst>
          </p:cNvPr>
          <p:cNvSpPr/>
          <p:nvPr/>
        </p:nvSpPr>
        <p:spPr>
          <a:xfrm>
            <a:off x="6431592" y="1586554"/>
            <a:ext cx="54254" cy="4357046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4B9047-05F0-8DD8-1245-D59996E7F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743" y="3303750"/>
            <a:ext cx="878333" cy="26398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E112AF-91E9-F0DC-78E9-70FC3D82DA72}"/>
              </a:ext>
            </a:extLst>
          </p:cNvPr>
          <p:cNvSpPr txBox="1"/>
          <p:nvPr/>
        </p:nvSpPr>
        <p:spPr>
          <a:xfrm>
            <a:off x="6828724" y="1617504"/>
            <a:ext cx="4971914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>
                <a:latin typeface="+mj-lt"/>
              </a:rPr>
              <a:t>Tujuan </a:t>
            </a:r>
            <a:r>
              <a:rPr lang="en-US" sz="1400" i="1" dirty="0" err="1">
                <a:latin typeface="+mj-lt"/>
              </a:rPr>
              <a:t>Evakuasi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dibagi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menjadi</a:t>
            </a:r>
            <a:r>
              <a:rPr lang="en-US" sz="1400" i="1" dirty="0">
                <a:latin typeface="+mj-lt"/>
              </a:rPr>
              <a:t> 3 </a:t>
            </a:r>
            <a:r>
              <a:rPr lang="en-US" sz="1400" i="1" dirty="0" err="1">
                <a:latin typeface="+mj-lt"/>
              </a:rPr>
              <a:t>sektor</a:t>
            </a:r>
            <a:r>
              <a:rPr lang="en-US" sz="1400" i="1" dirty="0">
                <a:latin typeface="+mj-lt"/>
              </a:rPr>
              <a:t>, Sektor Utara, Sektor Tengah dan Sektor Selatan. Hal </a:t>
            </a:r>
            <a:r>
              <a:rPr lang="en-US" sz="1400" i="1" dirty="0" err="1">
                <a:latin typeface="+mj-lt"/>
              </a:rPr>
              <a:t>ini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bertujuan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untuk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Penyeimbangan</a:t>
            </a:r>
            <a:r>
              <a:rPr lang="en-US" sz="1400" i="1" dirty="0">
                <a:latin typeface="+mj-lt"/>
              </a:rPr>
              <a:t> Beban (</a:t>
            </a:r>
            <a:r>
              <a:rPr lang="en-US" sz="1400" i="1" dirty="0"/>
              <a:t>Load Balancing)</a:t>
            </a:r>
            <a:r>
              <a:rPr lang="en-US" sz="1400" i="1" dirty="0">
                <a:latin typeface="+mj-lt"/>
              </a:rPr>
              <a:t>. Volume </a:t>
            </a:r>
            <a:r>
              <a:rPr lang="en-US" sz="1400" i="1" dirty="0" err="1">
                <a:latin typeface="+mj-lt"/>
              </a:rPr>
              <a:t>kendaraan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dipecah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ke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tiga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jaringan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jalan</a:t>
            </a:r>
            <a:r>
              <a:rPr lang="en-US" sz="1400" i="1" dirty="0">
                <a:latin typeface="+mj-lt"/>
              </a:rPr>
              <a:t> yang </a:t>
            </a:r>
            <a:r>
              <a:rPr lang="en-US" sz="1400" i="1" dirty="0" err="1">
                <a:latin typeface="+mj-lt"/>
              </a:rPr>
              <a:t>berbeda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sehingga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arus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evakuasi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tetap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mengalir</a:t>
            </a:r>
            <a:r>
              <a:rPr lang="en-US" sz="1400" i="1" dirty="0">
                <a:latin typeface="+mj-lt"/>
              </a:rPr>
              <a:t> </a:t>
            </a:r>
            <a:r>
              <a:rPr lang="en-US" sz="1400" i="1" dirty="0" err="1">
                <a:latin typeface="+mj-lt"/>
              </a:rPr>
              <a:t>lancar</a:t>
            </a:r>
            <a:r>
              <a:rPr lang="en-US" sz="1400" i="1" dirty="0">
                <a:latin typeface="+mj-lt"/>
              </a:rPr>
              <a:t>. </a:t>
            </a:r>
            <a:endParaRPr lang="en-US" sz="1400" dirty="0"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EAA536-23FD-B575-2712-00AA72CB9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3392245"/>
            <a:ext cx="1552504" cy="28954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744730-B139-D338-FFB3-960F8C8E2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957" y="3546185"/>
            <a:ext cx="2326396" cy="232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9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47E6-E24D-3CA9-C83E-E9DE97F1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1E67BA-BDF3-1943-9AC6-3A9EF65360D3}"/>
              </a:ext>
            </a:extLst>
          </p:cNvPr>
          <p:cNvSpPr/>
          <p:nvPr/>
        </p:nvSpPr>
        <p:spPr>
          <a:xfrm>
            <a:off x="10134600" y="5562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2A236C-598E-BBD4-DF00-2AF8E3C47665}"/>
              </a:ext>
            </a:extLst>
          </p:cNvPr>
          <p:cNvSpPr/>
          <p:nvPr/>
        </p:nvSpPr>
        <p:spPr>
          <a:xfrm>
            <a:off x="-990600" y="2133600"/>
            <a:ext cx="37338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C19AFF-1483-28AC-C255-254FB4FA5F2B}"/>
              </a:ext>
            </a:extLst>
          </p:cNvPr>
          <p:cNvSpPr/>
          <p:nvPr/>
        </p:nvSpPr>
        <p:spPr>
          <a:xfrm>
            <a:off x="-457200" y="1053154"/>
            <a:ext cx="3429000" cy="533400"/>
          </a:xfrm>
          <a:prstGeom prst="roundRect">
            <a:avLst/>
          </a:prstGeom>
          <a:solidFill>
            <a:srgbClr val="559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Visualisasi</a:t>
            </a:r>
            <a:r>
              <a:rPr lang="en-US" sz="2000" b="1" dirty="0"/>
              <a:t> Hasil</a:t>
            </a: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B55ADC-4CD4-90A0-739F-DC80E3C97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28"/>
          <a:stretch>
            <a:fillRect/>
          </a:stretch>
        </p:blipFill>
        <p:spPr>
          <a:xfrm>
            <a:off x="6496029" y="4638304"/>
            <a:ext cx="5232517" cy="138392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A9AECC9-BD5D-DD51-270F-FE39428611C9}"/>
              </a:ext>
            </a:extLst>
          </p:cNvPr>
          <p:cNvSpPr txBox="1"/>
          <p:nvPr/>
        </p:nvSpPr>
        <p:spPr>
          <a:xfrm>
            <a:off x="1676247" y="4010694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Sektor Selatan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84A083-7FAD-242C-D14B-5D9BC21F0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36" y="1752799"/>
            <a:ext cx="3631625" cy="22137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9B3248-77A4-2E9E-7DB4-6191F0E19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577" y="1752799"/>
            <a:ext cx="3733800" cy="22471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B34B9E-2F15-391E-1B60-F98582AAC270}"/>
              </a:ext>
            </a:extLst>
          </p:cNvPr>
          <p:cNvSpPr txBox="1"/>
          <p:nvPr/>
        </p:nvSpPr>
        <p:spPr>
          <a:xfrm>
            <a:off x="5725557" y="4021500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Sektor Tengah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E1A2DB-50F1-29F4-540A-2A9BC3486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519" y="1759975"/>
            <a:ext cx="3631625" cy="22389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E1F2D1-E929-5D9F-782F-F7FB237E1BF4}"/>
              </a:ext>
            </a:extLst>
          </p:cNvPr>
          <p:cNvSpPr txBox="1"/>
          <p:nvPr/>
        </p:nvSpPr>
        <p:spPr>
          <a:xfrm>
            <a:off x="9844434" y="4040483"/>
            <a:ext cx="110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Sektor Utara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AFA4A5-9C83-E946-DFC7-191B6E7C4AF0}"/>
              </a:ext>
            </a:extLst>
          </p:cNvPr>
          <p:cNvSpPr txBox="1"/>
          <p:nvPr/>
        </p:nvSpPr>
        <p:spPr>
          <a:xfrm>
            <a:off x="6134681" y="6069642"/>
            <a:ext cx="595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latin typeface="+mj-lt"/>
              </a:rPr>
              <a:t>Setiap sektor memiliki profil beban evakuasi yang bervariasi, dengan Sektor Selatan tercatat sebagai rute paling efisien secara geometris dan temporal.</a:t>
            </a:r>
            <a:endParaRPr lang="en-US" sz="1400" dirty="0"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EA2998-9B26-D1F2-2D89-0F9A9B4397F8}"/>
              </a:ext>
            </a:extLst>
          </p:cNvPr>
          <p:cNvSpPr/>
          <p:nvPr/>
        </p:nvSpPr>
        <p:spPr>
          <a:xfrm>
            <a:off x="173720" y="4405384"/>
            <a:ext cx="5427730" cy="16049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2EA99-1B43-71B9-A17E-D1C73C706605}"/>
              </a:ext>
            </a:extLst>
          </p:cNvPr>
          <p:cNvSpPr txBox="1"/>
          <p:nvPr/>
        </p:nvSpPr>
        <p:spPr>
          <a:xfrm>
            <a:off x="247078" y="4480330"/>
            <a:ext cx="1760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Metode </a:t>
            </a:r>
            <a:r>
              <a:rPr lang="en-US" sz="1200" b="1" u="sng" dirty="0" err="1"/>
              <a:t>Perhitungan</a:t>
            </a:r>
            <a:r>
              <a:rPr lang="en-US" sz="1200" b="1" u="sng" dirty="0"/>
              <a:t>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EA4D57-5959-11D5-2E95-470DE8D6B515}"/>
                  </a:ext>
                </a:extLst>
              </p:cNvPr>
              <p:cNvSpPr txBox="1"/>
              <p:nvPr/>
            </p:nvSpPr>
            <p:spPr>
              <a:xfrm>
                <a:off x="714702" y="4844242"/>
                <a:ext cx="1776768" cy="11024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Jarak (s)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+mn-lt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+mn-lt"/>
                            </a:rPr>
                            <m:t>$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𝑙𝑒𝑛𝑔𝑡h</m:t>
                          </m:r>
                        </m:num>
                        <m:den>
                          <m:r>
                            <a:rPr lang="en-US" sz="1400" b="0" i="1" smtClean="0">
                              <a:latin typeface="+mn-lt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sz="1400" dirty="0">
                  <a:latin typeface="+mn-lt"/>
                </a:endParaRPr>
              </a:p>
              <a:p>
                <a:endParaRPr lang="en-US" sz="1400" dirty="0">
                  <a:latin typeface="+mn-lt"/>
                </a:endParaRPr>
              </a:p>
              <a:p>
                <a:r>
                  <a:rPr lang="en-US" sz="1000" i="1" dirty="0">
                    <a:latin typeface="+mn-lt"/>
                  </a:rPr>
                  <a:t>Hasil </a:t>
                </a:r>
                <a:r>
                  <a:rPr lang="en-US" sz="1000" i="1" dirty="0" err="1">
                    <a:latin typeface="+mn-lt"/>
                  </a:rPr>
                  <a:t>Satuan</a:t>
                </a:r>
                <a:r>
                  <a:rPr lang="en-US" sz="1000" i="1" dirty="0">
                    <a:latin typeface="+mn-lt"/>
                  </a:rPr>
                  <a:t> KM (kilometer)</a:t>
                </a:r>
                <a:endParaRPr lang="en-US" sz="1000" i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EA4D57-5959-11D5-2E95-470DE8D6B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02" y="4844242"/>
                <a:ext cx="1776768" cy="1102481"/>
              </a:xfrm>
              <a:prstGeom prst="rect">
                <a:avLst/>
              </a:prstGeom>
              <a:blipFill>
                <a:blip r:embed="rId6"/>
                <a:stretch>
                  <a:fillRect l="-1027" t="-1105" b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48682B-1E02-42FE-8D30-D5DB213F023D}"/>
                  </a:ext>
                </a:extLst>
              </p:cNvPr>
              <p:cNvSpPr txBox="1"/>
              <p:nvPr/>
            </p:nvSpPr>
            <p:spPr>
              <a:xfrm>
                <a:off x="3032452" y="4779023"/>
                <a:ext cx="2089675" cy="1083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Waktu (t)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=(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50 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  <a:p>
                <a:endParaRPr lang="en-US" sz="1400" dirty="0">
                  <a:latin typeface="+mn-lt"/>
                </a:endParaRPr>
              </a:p>
              <a:p>
                <a:r>
                  <a:rPr lang="en-US" sz="1000" i="1" dirty="0">
                    <a:latin typeface="+mn-lt"/>
                  </a:rPr>
                  <a:t>Hasil </a:t>
                </a:r>
                <a:r>
                  <a:rPr lang="en-US" sz="1000" i="1" dirty="0" err="1">
                    <a:latin typeface="+mn-lt"/>
                  </a:rPr>
                  <a:t>Satuan</a:t>
                </a:r>
                <a:r>
                  <a:rPr lang="en-US" sz="1000" i="1" dirty="0">
                    <a:latin typeface="+mn-lt"/>
                  </a:rPr>
                  <a:t> m (</a:t>
                </a:r>
                <a:r>
                  <a:rPr lang="en-US" sz="1000" i="1" dirty="0" err="1">
                    <a:latin typeface="+mn-lt"/>
                  </a:rPr>
                  <a:t>menit</a:t>
                </a:r>
                <a:r>
                  <a:rPr lang="en-US" sz="1000" i="1" dirty="0">
                    <a:latin typeface="+mn-lt"/>
                  </a:rPr>
                  <a:t>)</a:t>
                </a:r>
                <a:endParaRPr lang="en-US" sz="1000" i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48682B-1E02-42FE-8D30-D5DB213F0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52" y="4779023"/>
                <a:ext cx="2089675" cy="1083758"/>
              </a:xfrm>
              <a:prstGeom prst="rect">
                <a:avLst/>
              </a:prstGeom>
              <a:blipFill>
                <a:blip r:embed="rId7"/>
                <a:stretch>
                  <a:fillRect l="-875" t="-1124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92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118C2-0981-D873-02AC-B9352FE41B96}"/>
              </a:ext>
            </a:extLst>
          </p:cNvPr>
          <p:cNvSpPr txBox="1"/>
          <p:nvPr/>
        </p:nvSpPr>
        <p:spPr>
          <a:xfrm>
            <a:off x="3893313" y="3075057"/>
            <a:ext cx="4405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185509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352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fikri hanif</cp:lastModifiedBy>
  <cp:revision>10</cp:revision>
  <dcterms:created xsi:type="dcterms:W3CDTF">2025-12-09T14:24:46Z</dcterms:created>
  <dcterms:modified xsi:type="dcterms:W3CDTF">2025-12-11T07:11:59Z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2024-08-11T00:00:00Z</vt:filetime>
  </property>
  <property fmtid="{D5CDD505-2E9C-101B-9397-08002B2CF9AE}" pid="3" name="Creator">
    <vt:lpwstr>Impress</vt:lpwstr>
  </property>
  <property fmtid="{D5CDD505-2E9C-101B-9397-08002B2CF9AE}" pid="4" name="LastSaved">
    <vt:filetime>2025-12-09T00:00:00Z</vt:filetime>
  </property>
  <property fmtid="{D5CDD505-2E9C-101B-9397-08002B2CF9AE}" pid="5" name="Producer">
    <vt:lpwstr>3-Heights(TM) PDF Security Shell 4.8.25.2 (http://www.pdf-tools.com)</vt:lpwstr>
  </property>
</Properties>
</file>